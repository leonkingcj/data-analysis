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  <ns0:embeddedFont>
      <ns0:font typeface="Space Grotesk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4ccef75e-2d28-4110-a229-dfc96e6a8bf2.fntdata" /><ns0:Relationship Id="rIdFont19" Type="http://schemas.openxmlformats.org/officeDocument/2006/relationships/font" Target="fonts/daa80572-0ef7-4acf-bfd9-f2ba6e0b71f5.fntdata" /><ns0:Relationship Id="rIdFont20" Type="http://schemas.openxmlformats.org/officeDocument/2006/relationships/font" Target="fonts/81ed2392-6321-43e7-9c4e-8fdd2e89c252.fntdata" /><ns0:Relationship Id="rIdFont21" Type="http://schemas.openxmlformats.org/officeDocument/2006/relationships/font" Target="fonts/313226bb-d8b2-4772-b18a-4d2068d087b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4058" y="2007542"/>
            <a:ext cx="3429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750" y="4588519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780" y="0"/>
            <a:ext cx="4328219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780" y="0"/>
            <a:ext cx="4328219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364730"/>
            <a:ext cx="6916801" cy="1109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68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Autonomous Debt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64594"/>
            <a:ext cx="5429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Deploying agentic AI for proactive, scalable, and equitable delinquency prevention.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36105"/>
            <a:ext cx="237994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B82F6"/>
                </a:solidFill>
                <a:latin typeface="Space Grotesk"/>
              </a:rPr>
              <a:t>GELDIUM RISK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59944"/>
            <a:ext cx="24526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40919"/>
            <a:ext cx="2452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Plus Jakarta Sans"/>
              </a:rPr>
              <a:t>Agentic Multi-Layer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7075" y="4559944"/>
            <a:ext cx="25360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7075" y="4740919"/>
            <a:ext cx="25360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Plus Jakarta Sans"/>
              </a:rPr>
              <a:t>Human-in-the-Loop &amp; ECOA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972175"/>
            <a:ext cx="10820400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458342"/>
            <a:ext cx="4995862" cy="22479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91287" y="2363092"/>
            <a:ext cx="5014912" cy="2438400"/>
          </a:xfrm>
          <a:prstGeom prst="roundRect">
            <a:avLst>
              <a:gd name="adj" fmla="val 5468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972175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0125" y="3953767"/>
            <a:ext cx="4367212" cy="400050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15137" y="3868042"/>
            <a:ext cx="4367212" cy="5715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462" y="3467992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2810767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137" y="2725042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425" y="2925067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9437" y="2839342"/>
            <a:ext cx="1524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Space Grotesk"/>
              </a:rPr>
              <a:t>COLLECTIONS PARADIGM 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Moving from Reactive Collections to Proactive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72200"/>
            <a:ext cx="4476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Target Domain: Unsecured Retail Credit &amp; SME Business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075" y="6172200"/>
            <a:ext cx="2678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Geldium Collections Transformation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344167"/>
            <a:ext cx="44624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Manual case escalations, static segmentation, and outreach post 60-day delinquency.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5137" y="3258442"/>
            <a:ext cx="44624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Continuous real-time behavioral scoring, adaptive timing, and tailored financial relief.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5425" y="2882205"/>
            <a:ext cx="22354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Legacy Collections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525" y="4068067"/>
            <a:ext cx="507801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High write-offs and adversarial customer interactions.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0437" y="2796480"/>
            <a:ext cx="239795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Autonomous AI 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537" y="3982342"/>
            <a:ext cx="415766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Early intervention preserving customer trust and portfolio capital.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451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511176"/>
            <a:ext cx="2562225" cy="2113508"/>
          </a:xfrm>
          <a:prstGeom prst="roundRect">
            <a:avLst>
              <a:gd name="adj" fmla="val 54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38525" y="2511176"/>
            <a:ext cx="2562225" cy="2113508"/>
          </a:xfrm>
          <a:prstGeom prst="roundRect">
            <a:avLst>
              <a:gd name="adj" fmla="val 54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511176"/>
            <a:ext cx="2562225" cy="2113508"/>
          </a:xfrm>
          <a:prstGeom prst="roundRect">
            <a:avLst>
              <a:gd name="adj" fmla="val 54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43975" y="2511176"/>
            <a:ext cx="2562225" cy="2113508"/>
          </a:xfrm>
          <a:prstGeom prst="roundRect">
            <a:avLst>
              <a:gd name="adj" fmla="val 54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4875" y="2806451"/>
            <a:ext cx="666750" cy="2095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2806451"/>
            <a:ext cx="733425" cy="2095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10325" y="2806451"/>
            <a:ext cx="771525" cy="2095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63050" y="2806451"/>
            <a:ext cx="666750" cy="2095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6067276"/>
            <a:ext cx="133350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Space Grotesk"/>
              </a:rPr>
              <a:t>CORE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4-Part Autonomous Operating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2777876"/>
            <a:ext cx="2238375" cy="1580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Core: Kafka &amp; CRM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075" y="2777876"/>
            <a:ext cx="2238375" cy="1580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Core: Risk Scores +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77876"/>
            <a:ext cx="2238375" cy="1580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Core: Omnichannel Dispatch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3525" y="2777876"/>
            <a:ext cx="2238375" cy="1580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Core: Reinforcement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950" y="6057751"/>
            <a:ext cx="7072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"/>
              </a:rPr>
              <a:t>All actions remain bound by strict corporate policy constraints and legal communication windows.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2844551"/>
            <a:ext cx="609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Space Grotesk"/>
              </a:rPr>
              <a:t>01. INGEST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875" y="3139826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3454151"/>
            <a:ext cx="2219325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Real-time ingestion of payment history, bureau feeds, utilization rates, and cash-flow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3800" y="2844551"/>
            <a:ext cx="6762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Space Grotesk"/>
              </a:rPr>
              <a:t>02. REASON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139826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Decision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454151"/>
            <a:ext cx="2219325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Evaluates LightGBM delinquency risk scores and determines optimal policy pathways.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6525" y="2844551"/>
            <a:ext cx="7143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Space Grotesk"/>
              </a:rPr>
              <a:t>03. EXECUTE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0325" y="3139826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Action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3454151"/>
            <a:ext cx="2219325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Autonomous delivery of SMS reminders, in-app hardship deferrals, and custom split terms.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0" y="2844551"/>
            <a:ext cx="609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Space Grotesk"/>
              </a:rPr>
              <a:t>04. ADAPT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3050" y="3139826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Learning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3050" y="3454151"/>
            <a:ext cx="2219325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Tracks repayment lift and message engagement to refine future intervention weights.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425005"/>
            <a:ext cx="10820400" cy="251460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8225" y="3568005"/>
            <a:ext cx="10115550" cy="1019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8225" y="3768030"/>
            <a:ext cx="4933950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8225" y="3568005"/>
            <a:ext cx="10115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00775" y="3768030"/>
            <a:ext cx="4953000" cy="819150"/>
          </a:xfrm>
          <a:prstGeom prst="roundRect">
            <a:avLst>
              <a:gd name="adj" fmla="val 1162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675" y="2982217"/>
            <a:ext cx="952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2982217"/>
            <a:ext cx="952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075" y="2982217"/>
            <a:ext cx="952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Space Grotesk"/>
              </a:rPr>
              <a:t>OPERATIONAL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Tracing Customer Data to Timed Interventions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172200"/>
            <a:ext cx="5810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Feedback latency: Outcomes recorded within 24 hours of scheduled due dates.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39325" y="6172200"/>
            <a:ext cx="2083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Full Operational Traceability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043" y="2777430"/>
            <a:ext cx="30718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4748B"/>
                </a:solidFill>
                <a:latin typeface="Plus Jakarta Sans"/>
              </a:rPr>
              <a:t>TRIGGER 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043" y="2977455"/>
            <a:ext cx="307181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Utilization &gt; 80% or Payment Missed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3743" y="2777430"/>
            <a:ext cx="30718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MODEL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3743" y="2977455"/>
            <a:ext cx="307181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LightGBM Calibrates Default Probability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6443" y="2777430"/>
            <a:ext cx="30718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D97706"/>
                </a:solidFill>
                <a:latin typeface="Plus Jakarta Sans"/>
              </a:rPr>
              <a:t>SEGMENT 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6443" y="2977455"/>
            <a:ext cx="307181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Risk Score &lt; 0.35 vs ≥ 0.35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9143" y="2777430"/>
            <a:ext cx="30718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6A34A"/>
                </a:solidFill>
                <a:latin typeface="Plus Jakarta Sans"/>
              </a:rPr>
              <a:t>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9143" y="2977455"/>
            <a:ext cx="307181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Personalized SMS Nudge or Specialist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8725" y="3920430"/>
            <a:ext cx="5691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Tier 1: Minor Payment Friction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8725" y="4110930"/>
            <a:ext cx="4648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Dispatches automated digital reminders with direct payment links within 48 hours.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29955"/>
            <a:ext cx="5691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Plus Jakarta Sans"/>
              </a:rPr>
              <a:t>Tier 2: Severe Balance Stress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20455"/>
            <a:ext cx="4648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3A8A"/>
                </a:solidFill>
                <a:latin typeface="Plus Jakarta Sans"/>
              </a:rPr>
              <a:t>Auto-generates opt-in 60-day hardship restructuring proposals with human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301180"/>
            <a:ext cx="5257800" cy="253365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301180"/>
            <a:ext cx="5257800" cy="253365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653605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653605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2748855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748855"/>
            <a:ext cx="1905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3263205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373945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4215705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3263205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3739455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4215705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Space Grotesk"/>
              </a:rPr>
              <a:t>OPERATING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Balancing Autonomous Action &amp; Human Oversight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6057900"/>
            <a:ext cx="6298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Plus Jakarta Sans"/>
              </a:rPr>
              <a:t>Governance Standard: Zero punitive decisions executed without human verification.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4100" y="6057900"/>
            <a:ext cx="1714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2563EB"/>
                </a:solidFill>
                <a:latin typeface="Space Grotesk"/>
              </a:rPr>
              <a:t>Policy: HITL-Standard-v2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7325" y="2615505"/>
            <a:ext cx="2029717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Low risk, high frequency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8725" y="3225105"/>
            <a:ext cx="449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Digital Nudges: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 Automated SMS and push notifications for early billing reminders.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8725" y="3701355"/>
            <a:ext cx="449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Channel &amp; Cadence Optimization: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 Calibrates message delivery time by customer engagement patterns.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8725" y="4177605"/>
            <a:ext cx="449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Standard Payment Agreements: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 Instantly confirms standard 30-day split repayments.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9925" y="2615505"/>
            <a:ext cx="2422921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High impact, policy exceptions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0375" y="3225105"/>
            <a:ext cx="4476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Hardship Relief Denials: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 Mandatory manual authorization required before declining financial relief requests.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0375" y="3701355"/>
            <a:ext cx="4476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Credit Line Revocation: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 Account freezing or permanent facility reductions require credit officer sign-off.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0375" y="4177605"/>
            <a:ext cx="4476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Dispute Resolution: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 Edge cases and borrower disputes escalate to specialized collections officers.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7325" y="2615505"/>
            <a:ext cx="253898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Fully Autonomous 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9925" y="2615505"/>
            <a:ext cx="3055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Human-in-the-Loop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972026"/>
            <a:ext cx="10820400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406401"/>
            <a:ext cx="3454449" cy="2351633"/>
          </a:xfrm>
          <a:prstGeom prst="roundRect">
            <a:avLst>
              <a:gd name="adj" fmla="val 48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2406401"/>
            <a:ext cx="3454449" cy="2351633"/>
          </a:xfrm>
          <a:prstGeom prst="roundRect">
            <a:avLst>
              <a:gd name="adj" fmla="val 48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502991"/>
            <a:ext cx="3454449" cy="2158305"/>
          </a:xfrm>
          <a:prstGeom prst="roundRect">
            <a:avLst>
              <a:gd name="adj" fmla="val 52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972026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720726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74" y="2720726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2817316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2815976"/>
            <a:ext cx="1905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2699" y="2815976"/>
            <a:ext cx="1714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324" y="2912566"/>
            <a:ext cx="1143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Space Grotesk"/>
              </a:rPr>
              <a:t>ETHICS &amp;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Responsible AI Guardrails in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11201"/>
            <a:ext cx="3092499" cy="17420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Zero Demographic Redlining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449" y="2711201"/>
            <a:ext cx="3092499" cy="17420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FCRA &amp; ECOA Compliant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499" y="2807791"/>
            <a:ext cx="3092499" cy="15487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B2777"/>
                </a:solidFill>
                <a:latin typeface="Plus Jakarta Sans"/>
              </a:rPr>
              <a:t>FCA &amp; Regulatory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172051"/>
            <a:ext cx="5405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Bias Mitigation: Automated feature re-weighting and adversarial debiasing.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1225" y="6172051"/>
            <a:ext cx="2131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Continuous Model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3216026"/>
            <a:ext cx="39088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Fairness &amp; Parity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3511301"/>
            <a:ext cx="30734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Continuous Disparate Impact Ratio audits (0.80–1.25) across age, gender, and regional segments.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6974" y="3216026"/>
            <a:ext cx="39088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SHAP Explainability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6974" y="3511301"/>
            <a:ext cx="30734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Translates model scores into plain-English reasons for adverse action compliance disclosures.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0024" y="3312616"/>
            <a:ext cx="3901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Immutable Audits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024" y="3607891"/>
            <a:ext cx="30734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Full logging of all data inputs, model versions, decisions, and officer interventions.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05500"/>
            <a:ext cx="10820400" cy="419100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567880"/>
            <a:ext cx="3403550" cy="1962150"/>
          </a:xfrm>
          <a:prstGeom prst="roundRect">
            <a:avLst>
              <a:gd name="adj" fmla="val 58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2567880"/>
            <a:ext cx="3403550" cy="1962150"/>
          </a:xfrm>
          <a:prstGeom prst="roundRect">
            <a:avLst>
              <a:gd name="adj" fmla="val 58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02500" y="2567880"/>
            <a:ext cx="3403550" cy="1962150"/>
          </a:xfrm>
          <a:prstGeom prst="roundRect">
            <a:avLst>
              <a:gd name="adj" fmla="val 58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567880"/>
            <a:ext cx="340355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94150" y="2567880"/>
            <a:ext cx="340355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02500" y="2567880"/>
            <a:ext cx="340355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Space Grotesk"/>
              </a:rPr>
              <a:t>IMPACT MEASUREMENT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Expected Quantitative Business 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6038850"/>
            <a:ext cx="671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"/>
              </a:rPr>
              <a:t>Financial Benchmark: Modeled across Geldium's initial $24M unsecured credit card portfolio.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925" y="6038850"/>
            <a:ext cx="2988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Net Estimated Savings: $420,000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2948880"/>
            <a:ext cx="3587687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0F172A"/>
                </a:solidFill>
                <a:latin typeface="Plus Jakarta Sans"/>
              </a:rPr>
              <a:t>-18%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558480"/>
            <a:ext cx="35876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2563EB"/>
                </a:solidFill>
                <a:latin typeface="Plus Jakarta Sans"/>
              </a:rPr>
              <a:t>90-Day Delinquency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3844230"/>
            <a:ext cx="2965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Curtailed progression into chronic default via proactive 5-day post-due digital outreach.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0850" y="2948880"/>
            <a:ext cx="3587687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0F172A"/>
                </a:solidFill>
                <a:latin typeface="Plus Jakarta Sans"/>
              </a:rPr>
              <a:t>-35%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0850" y="3558480"/>
            <a:ext cx="35876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6A34A"/>
                </a:solidFill>
                <a:latin typeface="Plus Jakarta Sans"/>
              </a:rPr>
              <a:t>Cost-to-Collect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0850" y="3844230"/>
            <a:ext cx="2965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Automation of Tier 1 repetitive messaging reduces agency outsourcing and manual calls.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9200" y="2948880"/>
            <a:ext cx="3587687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0F172A"/>
                </a:solidFill>
                <a:latin typeface="Plus Jakarta Sans"/>
              </a:rPr>
              <a:t>+24%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9200" y="3558480"/>
            <a:ext cx="35876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D97706"/>
                </a:solidFill>
                <a:latin typeface="Plus Jakarta Sans"/>
              </a:rPr>
              <a:t>Repayment Arrangement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9200" y="3844230"/>
            <a:ext cx="2965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Flexible self-service split payment plans drive higher borrower commitment.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829151"/>
            <a:ext cx="10820400" cy="49530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539751"/>
            <a:ext cx="3454449" cy="1942058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2539751"/>
            <a:ext cx="3454449" cy="1942058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539751"/>
            <a:ext cx="3454449" cy="1942058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92176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74" y="2892176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2892176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Space Grotesk"/>
              </a:rPr>
              <a:t>CUSTOMER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Human-Centric &amp; Trust-Building Customer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5991076"/>
            <a:ext cx="3500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Customer Net Promoter Score (NPS)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4050" y="5991076"/>
            <a:ext cx="2155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+14 pt increase during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292226"/>
            <a:ext cx="39088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Supportive Financial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587501"/>
            <a:ext cx="30734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Replaces intimidating legalistic calls with respectful, solution-oriented digital options that empower recovery.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974" y="3292226"/>
            <a:ext cx="39088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Seamless Self-Service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6974" y="3587501"/>
            <a:ext cx="30734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Customers restructure payments directly via mobile banking without wait times or uncomfortable disclosures.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292226"/>
            <a:ext cx="3901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Credit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024" y="3587501"/>
            <a:ext cx="30734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Resolving balances before 90-day delinquency avoids severe negative reporting to credit bureaus.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010275"/>
            <a:ext cx="108204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765226"/>
            <a:ext cx="3479750" cy="1672232"/>
          </a:xfrm>
          <a:prstGeom prst="roundRect">
            <a:avLst>
              <a:gd name="adj" fmla="val 68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2765226"/>
            <a:ext cx="3479750" cy="1672232"/>
          </a:xfrm>
          <a:prstGeom prst="roundRect">
            <a:avLst>
              <a:gd name="adj" fmla="val 68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765226"/>
            <a:ext cx="3479750" cy="1672232"/>
          </a:xfrm>
          <a:prstGeom prst="roundRect">
            <a:avLst>
              <a:gd name="adj" fmla="val 68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010275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Space Grotesk"/>
              </a:rPr>
              <a:t>EXECUTION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Phased Implementation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031926"/>
            <a:ext cx="3194000" cy="1138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PHASE 1 (WEEKS 1-4)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6550" y="3031926"/>
            <a:ext cx="3194000" cy="1138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PHASE 2 (WEEKS 5-8)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6800" y="3031926"/>
            <a:ext cx="3194000" cy="1138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PHASE 3 (WEEKS 9-12)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172200"/>
            <a:ext cx="625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Cross-Functional Steering: Risk Analytics, Legal Compliance &amp; Collections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91725" y="6172200"/>
            <a:ext cx="1893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Go-Live Target: End of 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355776"/>
            <a:ext cx="404210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Data &amp; Shadow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641526"/>
            <a:ext cx="317495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Deploy LightGBM in shadow mode. Validate ingestion pipelines and verify baseline data hygiene without live customer contact.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6075" y="3355776"/>
            <a:ext cx="404210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Early-Care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075" y="3641526"/>
            <a:ext cx="317495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Activate automated SMS reminders across 150 high-utilization accounts. Establish human-in-the-loop escalation queues.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6325" y="3355776"/>
            <a:ext cx="396567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Fairness &amp; Full Rollout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6325" y="3641526"/>
            <a:ext cx="317495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Conduct Disparate Impact audits, lock governance dashboards, and expand to 100% of Geldium's card portfolio.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390900" y="4434780"/>
            <a:ext cx="2019300" cy="447675"/>
          </a:xfrm>
          <a:prstGeom prst="roundRect">
            <a:avLst>
              <a:gd name="adj" fmla="val 170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38800" y="4444305"/>
            <a:ext cx="3162300" cy="428625"/>
          </a:xfrm>
          <a:prstGeom prst="roundRect">
            <a:avLst>
              <a:gd name="adj" fmla="val 17777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6130" y="1975544"/>
            <a:ext cx="367958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B82F6"/>
                </a:solidFill>
                <a:latin typeface="Space Grotesk"/>
              </a:rPr>
              <a:t>GELDIUM COLLECTIONS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2289869"/>
            <a:ext cx="100012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8FAFC"/>
                </a:solidFill>
                <a:latin typeface="Plus Jakarta Sans"/>
              </a:rPr>
              <a:t>Autonomous, Scalable, and Fair Debt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5062" y="3577530"/>
            <a:ext cx="73818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Protecting portfolio performance while delivering compassionate, transparent support to every borrower.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5187" y="4549080"/>
            <a:ext cx="19907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8FAFC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10212" y="4558605"/>
            <a:ext cx="34194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Next Step: Steering Committee Approval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0983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6846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https://gfmag.com/wp-content/uploads/2025/08/shutterstock_2638960939-scaled.jpg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1833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gfmag.com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